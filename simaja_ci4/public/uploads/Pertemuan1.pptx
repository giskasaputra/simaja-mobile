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311" r:id="rId3"/>
    <p:sldId id="312" r:id="rId4"/>
    <p:sldId id="31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9144000" cy="5143500" type="screen16x9"/>
  <p:notesSz cx="6858000" cy="9144000"/>
  <p:embeddedFontLst>
    <p:embeddedFont>
      <p:font typeface="Lato" panose="020F0502020204030203" pitchFamily="34" charset="0"/>
      <p:regular r:id="rId35"/>
      <p:bold r:id="rId36"/>
      <p:italic r:id="rId37"/>
      <p:boldItalic r:id="rId38"/>
    </p:embeddedFont>
    <p:embeddedFont>
      <p:font typeface="Raleway"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F57600-B679-433A-AE7B-506B9E079C9E}">
  <a:tblStyle styleId="{4DF57600-B679-433A-AE7B-506B9E079C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660"/>
  </p:normalViewPr>
  <p:slideViewPr>
    <p:cSldViewPr snapToGrid="0">
      <p:cViewPr>
        <p:scale>
          <a:sx n="125" d="100"/>
          <a:sy n="125" d="100"/>
        </p:scale>
        <p:origin x="49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1661f6ad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1661f6ad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5212813B-C474-DE59-2515-E751B64CCBF3}"/>
            </a:ext>
          </a:extLst>
        </p:cNvPr>
        <p:cNvGrpSpPr/>
        <p:nvPr/>
      </p:nvGrpSpPr>
      <p:grpSpPr>
        <a:xfrm>
          <a:off x="0" y="0"/>
          <a:ext cx="0" cy="0"/>
          <a:chOff x="0" y="0"/>
          <a:chExt cx="0" cy="0"/>
        </a:xfrm>
      </p:grpSpPr>
      <p:sp>
        <p:nvSpPr>
          <p:cNvPr id="106" name="Google Shape;106;g31661f6add6_0_19:notes">
            <a:extLst>
              <a:ext uri="{FF2B5EF4-FFF2-40B4-BE49-F238E27FC236}">
                <a16:creationId xmlns:a16="http://schemas.microsoft.com/office/drawing/2014/main" id="{EE7FA7A5-539E-FA91-CE05-4D8040F874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661f6add6_0_19:notes">
            <a:extLst>
              <a:ext uri="{FF2B5EF4-FFF2-40B4-BE49-F238E27FC236}">
                <a16:creationId xmlns:a16="http://schemas.microsoft.com/office/drawing/2014/main" id="{821003A4-0E9C-0603-8897-52A2D22B19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4958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748D492-53AB-F040-A642-72799910EA37}"/>
            </a:ext>
          </a:extLst>
        </p:cNvPr>
        <p:cNvGrpSpPr/>
        <p:nvPr/>
      </p:nvGrpSpPr>
      <p:grpSpPr>
        <a:xfrm>
          <a:off x="0" y="0"/>
          <a:ext cx="0" cy="0"/>
          <a:chOff x="0" y="0"/>
          <a:chExt cx="0" cy="0"/>
        </a:xfrm>
      </p:grpSpPr>
      <p:sp>
        <p:nvSpPr>
          <p:cNvPr id="106" name="Google Shape;106;g31661f6add6_0_19:notes">
            <a:extLst>
              <a:ext uri="{FF2B5EF4-FFF2-40B4-BE49-F238E27FC236}">
                <a16:creationId xmlns:a16="http://schemas.microsoft.com/office/drawing/2014/main" id="{0ED83982-582E-F280-9559-551340BDCA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661f6add6_0_19:notes">
            <a:extLst>
              <a:ext uri="{FF2B5EF4-FFF2-40B4-BE49-F238E27FC236}">
                <a16:creationId xmlns:a16="http://schemas.microsoft.com/office/drawing/2014/main" id="{A6887788-B9BD-4E4F-299C-A2BAF14312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173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B8C8B95F-7229-0933-1D5A-7D2DB0DE58A9}"/>
            </a:ext>
          </a:extLst>
        </p:cNvPr>
        <p:cNvGrpSpPr/>
        <p:nvPr/>
      </p:nvGrpSpPr>
      <p:grpSpPr>
        <a:xfrm>
          <a:off x="0" y="0"/>
          <a:ext cx="0" cy="0"/>
          <a:chOff x="0" y="0"/>
          <a:chExt cx="0" cy="0"/>
        </a:xfrm>
      </p:grpSpPr>
      <p:sp>
        <p:nvSpPr>
          <p:cNvPr id="83" name="Google Shape;83;g31661f6add6_0_0:notes">
            <a:extLst>
              <a:ext uri="{FF2B5EF4-FFF2-40B4-BE49-F238E27FC236}">
                <a16:creationId xmlns:a16="http://schemas.microsoft.com/office/drawing/2014/main" id="{3622083F-1E6C-CB68-A353-A01C8F7874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1661f6add6_0_0:notes">
            <a:extLst>
              <a:ext uri="{FF2B5EF4-FFF2-40B4-BE49-F238E27FC236}">
                <a16:creationId xmlns:a16="http://schemas.microsoft.com/office/drawing/2014/main" id="{14269B62-232F-A126-FBF5-FF2265C208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7396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661f6add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1661f6add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1661f6add6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1661f6add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661f6add6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661f6add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1661f6add6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661f6add6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661f6add6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661f6add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661f6add6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1661f6add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661f6add6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661f6add6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661f6add6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661f6add6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1661f6add6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1661f6add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661f6add6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661f6add6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1661f6add6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1661f6add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1661f6add6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1661f6add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1661f6add6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1661f6add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1661f6add6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1661f6add6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661f6add6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1661f6add6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1661f6add6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1661f6add6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1661f6add6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1661f6add6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661f6add6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1661f6add6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661f6add6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1661f6add6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1661f6add6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1661f6add6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1661f6add6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1661f6add6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1661f6add6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1661f6add6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1661f6add6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1661f6add6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1661f6add6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1661f6add6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1661f6add6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1661f6add6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661f6add6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1661f6add6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1661f6add6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1661f6add6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1661f6add6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1661f6add6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abreslav"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id.wikipedia.org/wiki/Unicode"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dirty="0"/>
              <a:t>INTRODUCTION MOBILE</a:t>
            </a:r>
            <a:endParaRPr dirty="0"/>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179B45F-A91F-95BB-178F-96235AF8900B}"/>
            </a:ext>
          </a:extLst>
        </p:cNvPr>
        <p:cNvGrpSpPr/>
        <p:nvPr/>
      </p:nvGrpSpPr>
      <p:grpSpPr>
        <a:xfrm>
          <a:off x="0" y="0"/>
          <a:ext cx="0" cy="0"/>
          <a:chOff x="0" y="0"/>
          <a:chExt cx="0" cy="0"/>
        </a:xfrm>
      </p:grpSpPr>
      <p:sp>
        <p:nvSpPr>
          <p:cNvPr id="109" name="Google Shape;109;p17">
            <a:extLst>
              <a:ext uri="{FF2B5EF4-FFF2-40B4-BE49-F238E27FC236}">
                <a16:creationId xmlns:a16="http://schemas.microsoft.com/office/drawing/2014/main" id="{6BB28981-E1FE-A7D0-8270-D1B715066C11}"/>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D" dirty="0" err="1"/>
              <a:t>Apa</a:t>
            </a:r>
            <a:r>
              <a:rPr lang="en-ID" dirty="0"/>
              <a:t> </a:t>
            </a:r>
            <a:r>
              <a:rPr lang="en-ID" dirty="0" err="1"/>
              <a:t>itu</a:t>
            </a:r>
            <a:r>
              <a:rPr lang="en-ID" dirty="0"/>
              <a:t> </a:t>
            </a:r>
            <a:r>
              <a:rPr lang="en-ID" dirty="0" err="1"/>
              <a:t>Pemrograman</a:t>
            </a:r>
            <a:r>
              <a:rPr lang="en-ID" dirty="0"/>
              <a:t> Mobile?</a:t>
            </a:r>
            <a:endParaRPr dirty="0"/>
          </a:p>
        </p:txBody>
      </p:sp>
      <p:sp>
        <p:nvSpPr>
          <p:cNvPr id="110" name="Google Shape;110;p17">
            <a:extLst>
              <a:ext uri="{FF2B5EF4-FFF2-40B4-BE49-F238E27FC236}">
                <a16:creationId xmlns:a16="http://schemas.microsoft.com/office/drawing/2014/main" id="{7D3D2312-1BC7-6E3F-5917-2702454389F7}"/>
              </a:ext>
            </a:extLst>
          </p:cNvPr>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SzPts val="1300"/>
              <a:buChar char="●"/>
            </a:pPr>
            <a:r>
              <a:rPr lang="en-ID" dirty="0" err="1"/>
              <a:t>Pemrograman</a:t>
            </a:r>
            <a:r>
              <a:rPr lang="en-ID" dirty="0"/>
              <a:t> mobile </a:t>
            </a:r>
            <a:r>
              <a:rPr lang="en-ID" dirty="0" err="1"/>
              <a:t>adalah</a:t>
            </a:r>
            <a:r>
              <a:rPr lang="en-ID" dirty="0"/>
              <a:t> proses </a:t>
            </a:r>
            <a:r>
              <a:rPr lang="en-ID" dirty="0" err="1"/>
              <a:t>membuat</a:t>
            </a:r>
            <a:r>
              <a:rPr lang="en-ID" dirty="0"/>
              <a:t> </a:t>
            </a:r>
            <a:r>
              <a:rPr lang="en-ID" dirty="0" err="1"/>
              <a:t>aplikasi</a:t>
            </a:r>
            <a:r>
              <a:rPr lang="en-ID" dirty="0"/>
              <a:t> yang </a:t>
            </a:r>
            <a:r>
              <a:rPr lang="en-ID" dirty="0" err="1"/>
              <a:t>berjalan</a:t>
            </a:r>
            <a:r>
              <a:rPr lang="en-ID" dirty="0"/>
              <a:t> di </a:t>
            </a:r>
            <a:r>
              <a:rPr lang="en-ID" dirty="0" err="1"/>
              <a:t>perangkat</a:t>
            </a:r>
            <a:r>
              <a:rPr lang="en-ID" dirty="0"/>
              <a:t> mobile </a:t>
            </a:r>
            <a:r>
              <a:rPr lang="en-ID" dirty="0" err="1"/>
              <a:t>seperti</a:t>
            </a:r>
            <a:r>
              <a:rPr lang="en-ID" dirty="0"/>
              <a:t> smartphone dan tablet. </a:t>
            </a:r>
            <a:r>
              <a:rPr lang="en-ID" dirty="0" err="1"/>
              <a:t>Aplikasi</a:t>
            </a:r>
            <a:r>
              <a:rPr lang="en-ID" dirty="0"/>
              <a:t> </a:t>
            </a:r>
            <a:r>
              <a:rPr lang="en-ID" dirty="0" err="1"/>
              <a:t>ini</a:t>
            </a:r>
            <a:r>
              <a:rPr lang="en-ID" dirty="0"/>
              <a:t> </a:t>
            </a:r>
            <a:r>
              <a:rPr lang="en-ID" dirty="0" err="1"/>
              <a:t>bisa</a:t>
            </a:r>
            <a:r>
              <a:rPr lang="en-ID" dirty="0"/>
              <a:t> </a:t>
            </a:r>
            <a:r>
              <a:rPr lang="en-ID" dirty="0" err="1"/>
              <a:t>berjalan</a:t>
            </a:r>
            <a:r>
              <a:rPr lang="en-ID" dirty="0"/>
              <a:t> di Android, iOS, </a:t>
            </a:r>
            <a:r>
              <a:rPr lang="en-ID" dirty="0" err="1"/>
              <a:t>atau</a:t>
            </a:r>
            <a:r>
              <a:rPr lang="en-ID" dirty="0"/>
              <a:t> </a:t>
            </a:r>
            <a:r>
              <a:rPr lang="en-ID" dirty="0" err="1"/>
              <a:t>bahkan</a:t>
            </a:r>
            <a:r>
              <a:rPr lang="en-ID" dirty="0"/>
              <a:t> </a:t>
            </a:r>
            <a:r>
              <a:rPr lang="en-ID" dirty="0" err="1"/>
              <a:t>keduanya</a:t>
            </a:r>
            <a:r>
              <a:rPr lang="en-ID" dirty="0"/>
              <a:t> </a:t>
            </a:r>
            <a:r>
              <a:rPr lang="en-ID" dirty="0" err="1"/>
              <a:t>sekaligus</a:t>
            </a:r>
            <a:r>
              <a:rPr lang="en-ID" dirty="0"/>
              <a:t> </a:t>
            </a:r>
            <a:r>
              <a:rPr lang="en-ID" dirty="0" err="1"/>
              <a:t>jika</a:t>
            </a:r>
            <a:r>
              <a:rPr lang="en-ID" dirty="0"/>
              <a:t> </a:t>
            </a:r>
            <a:r>
              <a:rPr lang="en-ID" dirty="0" err="1"/>
              <a:t>menggunakan</a:t>
            </a:r>
            <a:r>
              <a:rPr lang="en-ID" dirty="0"/>
              <a:t> framework cross-platform. </a:t>
            </a:r>
            <a:r>
              <a:rPr lang="en-ID" dirty="0" err="1"/>
              <a:t>Dalam</a:t>
            </a:r>
            <a:r>
              <a:rPr lang="en-ID" dirty="0"/>
              <a:t> </a:t>
            </a:r>
            <a:r>
              <a:rPr lang="en-ID" dirty="0" err="1"/>
              <a:t>pemrograman</a:t>
            </a:r>
            <a:r>
              <a:rPr lang="en-ID" dirty="0"/>
              <a:t> mobile, </a:t>
            </a:r>
            <a:r>
              <a:rPr lang="en-ID" dirty="0" err="1"/>
              <a:t>kita</a:t>
            </a:r>
            <a:r>
              <a:rPr lang="en-ID" dirty="0"/>
              <a:t> </a:t>
            </a:r>
            <a:r>
              <a:rPr lang="en-ID" dirty="0" err="1"/>
              <a:t>memanfaatkan</a:t>
            </a:r>
            <a:r>
              <a:rPr lang="en-ID" dirty="0"/>
              <a:t> </a:t>
            </a:r>
            <a:r>
              <a:rPr lang="en-ID" dirty="0" err="1"/>
              <a:t>kemampuan</a:t>
            </a:r>
            <a:r>
              <a:rPr lang="en-ID" dirty="0"/>
              <a:t> </a:t>
            </a:r>
            <a:r>
              <a:rPr lang="en-ID" dirty="0" err="1"/>
              <a:t>perangkat</a:t>
            </a:r>
            <a:r>
              <a:rPr lang="en-ID" dirty="0"/>
              <a:t> </a:t>
            </a:r>
            <a:r>
              <a:rPr lang="en-ID" dirty="0" err="1"/>
              <a:t>seperti</a:t>
            </a:r>
            <a:r>
              <a:rPr lang="en-ID" dirty="0"/>
              <a:t> </a:t>
            </a:r>
            <a:r>
              <a:rPr lang="en-ID" dirty="0" err="1"/>
              <a:t>kamera</a:t>
            </a:r>
            <a:r>
              <a:rPr lang="en-ID" dirty="0"/>
              <a:t>, GPS, sensor, internet, dan database</a:t>
            </a:r>
            <a:r>
              <a:rPr lang="id-ID" dirty="0"/>
              <a:t>.</a:t>
            </a:r>
            <a:endParaRPr dirty="0"/>
          </a:p>
        </p:txBody>
      </p:sp>
    </p:spTree>
    <p:extLst>
      <p:ext uri="{BB962C8B-B14F-4D97-AF65-F5344CB8AC3E}">
        <p14:creationId xmlns:p14="http://schemas.microsoft.com/office/powerpoint/2010/main" val="230753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1C50FF2-2522-E75F-BEB1-022C44F61FF1}"/>
            </a:ext>
          </a:extLst>
        </p:cNvPr>
        <p:cNvGrpSpPr/>
        <p:nvPr/>
      </p:nvGrpSpPr>
      <p:grpSpPr>
        <a:xfrm>
          <a:off x="0" y="0"/>
          <a:ext cx="0" cy="0"/>
          <a:chOff x="0" y="0"/>
          <a:chExt cx="0" cy="0"/>
        </a:xfrm>
      </p:grpSpPr>
      <p:sp>
        <p:nvSpPr>
          <p:cNvPr id="109" name="Google Shape;109;p17">
            <a:extLst>
              <a:ext uri="{FF2B5EF4-FFF2-40B4-BE49-F238E27FC236}">
                <a16:creationId xmlns:a16="http://schemas.microsoft.com/office/drawing/2014/main" id="{B195FDAE-8B80-6EDB-D4A2-F9A3A315823B}"/>
              </a:ext>
            </a:extLst>
          </p:cNvPr>
          <p:cNvSpPr txBox="1">
            <a:spLocks noGrp="1"/>
          </p:cNvSpPr>
          <p:nvPr>
            <p:ph type="title"/>
          </p:nvPr>
        </p:nvSpPr>
        <p:spPr>
          <a:xfrm>
            <a:off x="729450" y="1318649"/>
            <a:ext cx="7688700" cy="760225"/>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D" dirty="0" err="1"/>
              <a:t>Apa</a:t>
            </a:r>
            <a:r>
              <a:rPr lang="en-ID" dirty="0"/>
              <a:t> </a:t>
            </a:r>
            <a:r>
              <a:rPr lang="en-ID" dirty="0" err="1"/>
              <a:t>saja</a:t>
            </a:r>
            <a:r>
              <a:rPr lang="en-ID" dirty="0"/>
              <a:t> yang </a:t>
            </a:r>
            <a:r>
              <a:rPr lang="en-ID" dirty="0" err="1"/>
              <a:t>bisa</a:t>
            </a:r>
            <a:r>
              <a:rPr lang="en-ID" dirty="0"/>
              <a:t> </a:t>
            </a:r>
            <a:r>
              <a:rPr lang="en-ID" dirty="0" err="1"/>
              <a:t>dibuat</a:t>
            </a:r>
            <a:r>
              <a:rPr lang="en-ID" dirty="0"/>
              <a:t> </a:t>
            </a:r>
            <a:r>
              <a:rPr lang="en-ID" dirty="0" err="1"/>
              <a:t>dengan</a:t>
            </a:r>
            <a:r>
              <a:rPr lang="en-ID" dirty="0"/>
              <a:t> </a:t>
            </a:r>
            <a:r>
              <a:rPr lang="en-ID" dirty="0" err="1"/>
              <a:t>Pemrograman</a:t>
            </a:r>
            <a:r>
              <a:rPr lang="en-ID" dirty="0"/>
              <a:t> Mobile?</a:t>
            </a:r>
            <a:endParaRPr dirty="0"/>
          </a:p>
        </p:txBody>
      </p:sp>
      <p:sp>
        <p:nvSpPr>
          <p:cNvPr id="110" name="Google Shape;110;p17">
            <a:extLst>
              <a:ext uri="{FF2B5EF4-FFF2-40B4-BE49-F238E27FC236}">
                <a16:creationId xmlns:a16="http://schemas.microsoft.com/office/drawing/2014/main" id="{333DD5F3-E800-AEF1-F089-F61CC8AB0477}"/>
              </a:ext>
            </a:extLst>
          </p:cNvPr>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SzPts val="1300"/>
              <a:buChar char="●"/>
            </a:pPr>
            <a:r>
              <a:rPr lang="en-ID" dirty="0" err="1"/>
              <a:t>Dengan</a:t>
            </a:r>
            <a:r>
              <a:rPr lang="en-ID" dirty="0"/>
              <a:t> </a:t>
            </a:r>
            <a:r>
              <a:rPr lang="en-ID" dirty="0" err="1"/>
              <a:t>pemrograman</a:t>
            </a:r>
            <a:r>
              <a:rPr lang="en-ID" dirty="0"/>
              <a:t> mobile, </a:t>
            </a:r>
            <a:r>
              <a:rPr lang="en-ID" dirty="0" err="1"/>
              <a:t>kita</a:t>
            </a:r>
            <a:r>
              <a:rPr lang="en-ID" dirty="0"/>
              <a:t> </a:t>
            </a:r>
            <a:r>
              <a:rPr lang="en-ID" dirty="0" err="1"/>
              <a:t>bisa</a:t>
            </a:r>
            <a:r>
              <a:rPr lang="en-ID" dirty="0"/>
              <a:t> </a:t>
            </a:r>
            <a:r>
              <a:rPr lang="en-ID" dirty="0" err="1"/>
              <a:t>membuat</a:t>
            </a:r>
            <a:r>
              <a:rPr lang="en-ID" dirty="0"/>
              <a:t> </a:t>
            </a:r>
            <a:r>
              <a:rPr lang="en-ID" dirty="0" err="1"/>
              <a:t>hampir</a:t>
            </a:r>
            <a:r>
              <a:rPr lang="en-ID" dirty="0"/>
              <a:t> </a:t>
            </a:r>
            <a:r>
              <a:rPr lang="en-ID" dirty="0" err="1"/>
              <a:t>semua</a:t>
            </a:r>
            <a:r>
              <a:rPr lang="en-ID" dirty="0"/>
              <a:t> </a:t>
            </a:r>
            <a:r>
              <a:rPr lang="en-ID" dirty="0" err="1"/>
              <a:t>jenis</a:t>
            </a:r>
            <a:r>
              <a:rPr lang="en-ID" dirty="0"/>
              <a:t> </a:t>
            </a:r>
            <a:r>
              <a:rPr lang="en-ID" dirty="0" err="1"/>
              <a:t>aplikasi</a:t>
            </a:r>
            <a:r>
              <a:rPr lang="en-ID" dirty="0"/>
              <a:t> digital yang </a:t>
            </a:r>
            <a:r>
              <a:rPr lang="en-ID" dirty="0" err="1"/>
              <a:t>biasa</a:t>
            </a:r>
            <a:r>
              <a:rPr lang="en-ID" dirty="0"/>
              <a:t> </a:t>
            </a:r>
            <a:r>
              <a:rPr lang="en-ID" dirty="0" err="1"/>
              <a:t>ada</a:t>
            </a:r>
            <a:r>
              <a:rPr lang="en-ID" dirty="0"/>
              <a:t> di smartphone. </a:t>
            </a:r>
            <a:r>
              <a:rPr lang="en-ID" dirty="0" err="1"/>
              <a:t>Misalnya</a:t>
            </a:r>
            <a:r>
              <a:rPr lang="en-ID" dirty="0"/>
              <a:t> </a:t>
            </a:r>
            <a:r>
              <a:rPr lang="en-ID" dirty="0" err="1"/>
              <a:t>aplikasi</a:t>
            </a:r>
            <a:r>
              <a:rPr lang="en-ID" dirty="0"/>
              <a:t> </a:t>
            </a:r>
            <a:r>
              <a:rPr lang="en-ID" dirty="0" err="1"/>
              <a:t>komunikasi</a:t>
            </a:r>
            <a:r>
              <a:rPr lang="en-ID" dirty="0"/>
              <a:t> dan media </a:t>
            </a:r>
            <a:r>
              <a:rPr lang="en-ID" dirty="0" err="1"/>
              <a:t>sosial</a:t>
            </a:r>
            <a:r>
              <a:rPr lang="en-ID" dirty="0"/>
              <a:t> </a:t>
            </a:r>
            <a:r>
              <a:rPr lang="en-ID" dirty="0" err="1"/>
              <a:t>seperti</a:t>
            </a:r>
            <a:r>
              <a:rPr lang="en-ID" dirty="0"/>
              <a:t> WhatsApp </a:t>
            </a:r>
            <a:r>
              <a:rPr lang="en-ID" dirty="0" err="1"/>
              <a:t>atau</a:t>
            </a:r>
            <a:r>
              <a:rPr lang="en-ID" dirty="0"/>
              <a:t> Instagram, </a:t>
            </a:r>
            <a:r>
              <a:rPr lang="en-ID" dirty="0" err="1"/>
              <a:t>aplikasi</a:t>
            </a:r>
            <a:r>
              <a:rPr lang="en-ID" dirty="0"/>
              <a:t> </a:t>
            </a:r>
            <a:r>
              <a:rPr lang="en-ID" dirty="0" err="1"/>
              <a:t>bisnis</a:t>
            </a:r>
            <a:r>
              <a:rPr lang="en-ID" dirty="0"/>
              <a:t> dan </a:t>
            </a:r>
            <a:r>
              <a:rPr lang="en-ID" dirty="0" err="1"/>
              <a:t>produktivitas</a:t>
            </a:r>
            <a:r>
              <a:rPr lang="en-ID" dirty="0"/>
              <a:t> </a:t>
            </a:r>
            <a:r>
              <a:rPr lang="en-ID" dirty="0" err="1"/>
              <a:t>seperti</a:t>
            </a:r>
            <a:r>
              <a:rPr lang="en-ID" dirty="0"/>
              <a:t> mobile banking dan Google Docs, </a:t>
            </a:r>
            <a:r>
              <a:rPr lang="en-ID" dirty="0" err="1"/>
              <a:t>aplikasi</a:t>
            </a:r>
            <a:r>
              <a:rPr lang="en-ID" dirty="0"/>
              <a:t> </a:t>
            </a:r>
            <a:r>
              <a:rPr lang="en-ID" dirty="0" err="1"/>
              <a:t>hiburan</a:t>
            </a:r>
            <a:r>
              <a:rPr lang="en-ID" dirty="0"/>
              <a:t> </a:t>
            </a:r>
            <a:r>
              <a:rPr lang="en-ID" dirty="0" err="1"/>
              <a:t>seperti</a:t>
            </a:r>
            <a:r>
              <a:rPr lang="en-ID" dirty="0"/>
              <a:t> game dan </a:t>
            </a:r>
            <a:r>
              <a:rPr lang="en-ID" dirty="0" err="1"/>
              <a:t>musik</a:t>
            </a:r>
            <a:r>
              <a:rPr lang="en-ID" dirty="0"/>
              <a:t>, </a:t>
            </a:r>
            <a:r>
              <a:rPr lang="en-ID" dirty="0" err="1"/>
              <a:t>aplikasi</a:t>
            </a:r>
            <a:r>
              <a:rPr lang="en-ID" dirty="0"/>
              <a:t> e-commerce </a:t>
            </a:r>
            <a:r>
              <a:rPr lang="en-ID" dirty="0" err="1"/>
              <a:t>seperti</a:t>
            </a:r>
            <a:r>
              <a:rPr lang="en-ID" dirty="0"/>
              <a:t> Tokopedia </a:t>
            </a:r>
            <a:r>
              <a:rPr lang="en-ID" dirty="0" err="1"/>
              <a:t>atau</a:t>
            </a:r>
            <a:r>
              <a:rPr lang="en-ID" dirty="0"/>
              <a:t> Shopee, </a:t>
            </a:r>
            <a:r>
              <a:rPr lang="en-ID" dirty="0" err="1"/>
              <a:t>aplikasi</a:t>
            </a:r>
            <a:r>
              <a:rPr lang="en-ID" dirty="0"/>
              <a:t> </a:t>
            </a:r>
            <a:r>
              <a:rPr lang="en-ID" dirty="0" err="1"/>
              <a:t>edukasi</a:t>
            </a:r>
            <a:r>
              <a:rPr lang="en-ID" dirty="0"/>
              <a:t> </a:t>
            </a:r>
            <a:r>
              <a:rPr lang="en-ID" dirty="0" err="1"/>
              <a:t>seperti</a:t>
            </a:r>
            <a:r>
              <a:rPr lang="en-ID" dirty="0"/>
              <a:t> Duolingo, </a:t>
            </a:r>
            <a:r>
              <a:rPr lang="en-ID" dirty="0" err="1"/>
              <a:t>hingga</a:t>
            </a:r>
            <a:r>
              <a:rPr lang="en-ID" dirty="0"/>
              <a:t> </a:t>
            </a:r>
            <a:r>
              <a:rPr lang="en-ID" dirty="0" err="1"/>
              <a:t>aplikasi</a:t>
            </a:r>
            <a:r>
              <a:rPr lang="en-ID" dirty="0"/>
              <a:t> </a:t>
            </a:r>
            <a:r>
              <a:rPr lang="en-ID" dirty="0" err="1"/>
              <a:t>utilitas</a:t>
            </a:r>
            <a:r>
              <a:rPr lang="en-ID" dirty="0"/>
              <a:t> </a:t>
            </a:r>
            <a:r>
              <a:rPr lang="en-ID" dirty="0" err="1"/>
              <a:t>seperti</a:t>
            </a:r>
            <a:r>
              <a:rPr lang="en-ID" dirty="0"/>
              <a:t> Google Maps </a:t>
            </a:r>
            <a:r>
              <a:rPr lang="en-ID" dirty="0" err="1"/>
              <a:t>atau</a:t>
            </a:r>
            <a:r>
              <a:rPr lang="en-ID" dirty="0"/>
              <a:t> </a:t>
            </a:r>
            <a:r>
              <a:rPr lang="en-ID" dirty="0" err="1"/>
              <a:t>kamera</a:t>
            </a:r>
            <a:r>
              <a:rPr lang="en-ID" dirty="0"/>
              <a:t>. </a:t>
            </a:r>
            <a:r>
              <a:rPr lang="en-ID" dirty="0" err="1"/>
              <a:t>Bahkan</a:t>
            </a:r>
            <a:r>
              <a:rPr lang="en-ID" dirty="0"/>
              <a:t> </a:t>
            </a:r>
            <a:r>
              <a:rPr lang="en-ID" dirty="0" err="1"/>
              <a:t>aplikasi</a:t>
            </a:r>
            <a:r>
              <a:rPr lang="en-ID" dirty="0"/>
              <a:t> </a:t>
            </a:r>
            <a:r>
              <a:rPr lang="en-ID" dirty="0" err="1"/>
              <a:t>untuk</a:t>
            </a:r>
            <a:r>
              <a:rPr lang="en-ID" dirty="0"/>
              <a:t> Internet of Things (IoT) </a:t>
            </a:r>
            <a:r>
              <a:rPr lang="en-ID" dirty="0" err="1"/>
              <a:t>seperti</a:t>
            </a:r>
            <a:r>
              <a:rPr lang="en-ID" dirty="0"/>
              <a:t> </a:t>
            </a:r>
            <a:r>
              <a:rPr lang="en-ID" dirty="0" err="1"/>
              <a:t>pengendali</a:t>
            </a:r>
            <a:r>
              <a:rPr lang="en-ID" dirty="0"/>
              <a:t> smart home juga </a:t>
            </a:r>
            <a:r>
              <a:rPr lang="en-ID" dirty="0" err="1"/>
              <a:t>bisa</a:t>
            </a:r>
            <a:r>
              <a:rPr lang="en-ID" dirty="0"/>
              <a:t> </a:t>
            </a:r>
            <a:r>
              <a:rPr lang="en-ID" dirty="0" err="1"/>
              <a:t>dibuat</a:t>
            </a:r>
            <a:r>
              <a:rPr lang="en-ID" dirty="0"/>
              <a:t> </a:t>
            </a:r>
            <a:r>
              <a:rPr lang="en-ID" dirty="0" err="1"/>
              <a:t>dengan</a:t>
            </a:r>
            <a:r>
              <a:rPr lang="en-ID" dirty="0"/>
              <a:t> </a:t>
            </a:r>
            <a:r>
              <a:rPr lang="en-ID" dirty="0" err="1"/>
              <a:t>pemrograman</a:t>
            </a:r>
            <a:r>
              <a:rPr lang="en-ID" dirty="0"/>
              <a:t> mobile.</a:t>
            </a:r>
            <a:endParaRPr dirty="0"/>
          </a:p>
        </p:txBody>
      </p:sp>
    </p:spTree>
    <p:extLst>
      <p:ext uri="{BB962C8B-B14F-4D97-AF65-F5344CB8AC3E}">
        <p14:creationId xmlns:p14="http://schemas.microsoft.com/office/powerpoint/2010/main" val="4229555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192F5997-6E99-54C6-D667-07BE398D7C2B}"/>
            </a:ext>
          </a:extLst>
        </p:cNvPr>
        <p:cNvGrpSpPr/>
        <p:nvPr/>
      </p:nvGrpSpPr>
      <p:grpSpPr>
        <a:xfrm>
          <a:off x="0" y="0"/>
          <a:ext cx="0" cy="0"/>
          <a:chOff x="0" y="0"/>
          <a:chExt cx="0" cy="0"/>
        </a:xfrm>
      </p:grpSpPr>
      <p:sp>
        <p:nvSpPr>
          <p:cNvPr id="86" name="Google Shape;86;p13">
            <a:extLst>
              <a:ext uri="{FF2B5EF4-FFF2-40B4-BE49-F238E27FC236}">
                <a16:creationId xmlns:a16="http://schemas.microsoft.com/office/drawing/2014/main" id="{0DC17946-4942-04D8-A3BC-FAD953AD4C6A}"/>
              </a:ext>
            </a:extLst>
          </p:cNvPr>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Kotlin Dasar</a:t>
            </a:r>
            <a:endParaRPr/>
          </a:p>
        </p:txBody>
      </p:sp>
      <p:sp>
        <p:nvSpPr>
          <p:cNvPr id="87" name="Google Shape;87;p13">
            <a:extLst>
              <a:ext uri="{FF2B5EF4-FFF2-40B4-BE49-F238E27FC236}">
                <a16:creationId xmlns:a16="http://schemas.microsoft.com/office/drawing/2014/main" id="{D5E824E7-F21A-93E1-62C7-7126720B8968}"/>
              </a:ext>
            </a:extLst>
          </p:cNvPr>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643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Silabus</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Pengenalan Kotlin</a:t>
            </a:r>
            <a:endParaRPr/>
          </a:p>
          <a:p>
            <a:pPr marL="457200" lvl="0" indent="-311150" algn="l" rtl="0">
              <a:spcBef>
                <a:spcPts val="0"/>
              </a:spcBef>
              <a:spcAft>
                <a:spcPts val="0"/>
              </a:spcAft>
              <a:buSzPts val="1300"/>
              <a:buChar char="●"/>
            </a:pPr>
            <a:r>
              <a:rPr lang="id"/>
              <a:t>Variable</a:t>
            </a:r>
            <a:endParaRPr/>
          </a:p>
          <a:p>
            <a:pPr marL="457200" lvl="0" indent="-311150" algn="l" rtl="0">
              <a:spcBef>
                <a:spcPts val="0"/>
              </a:spcBef>
              <a:spcAft>
                <a:spcPts val="0"/>
              </a:spcAft>
              <a:buSzPts val="1300"/>
              <a:buChar char="●"/>
            </a:pPr>
            <a:r>
              <a:rPr lang="id"/>
              <a:t>Tipe data</a:t>
            </a:r>
            <a:endParaRPr/>
          </a:p>
          <a:p>
            <a:pPr marL="457200" lvl="0" indent="-311150" algn="l" rtl="0">
              <a:spcBef>
                <a:spcPts val="0"/>
              </a:spcBef>
              <a:spcAft>
                <a:spcPts val="0"/>
              </a:spcAft>
              <a:buSzPts val="1300"/>
              <a:buChar char="●"/>
            </a:pPr>
            <a:r>
              <a:rPr lang="id"/>
              <a:t>Control Flow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Pengenalan Kotlin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Sejarah Kotlin</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Kotlin pertama kali dikembangkan oleh JetBrains, pengembang perangkat lunak dari Rusia, Pada saat itu dipimpin oleh</a:t>
            </a:r>
            <a:r>
              <a:rPr lang="id" sz="1200">
                <a:solidFill>
                  <a:srgbClr val="FAFAFA"/>
                </a:solidFill>
                <a:highlight>
                  <a:srgbClr val="FAFAFA"/>
                </a:highlight>
                <a:latin typeface="Arial"/>
                <a:ea typeface="Arial"/>
                <a:cs typeface="Arial"/>
                <a:sym typeface="Arial"/>
              </a:rPr>
              <a:t> </a:t>
            </a:r>
            <a:r>
              <a:rPr lang="id" sz="1200">
                <a:uFill>
                  <a:noFill/>
                </a:uFill>
                <a:latin typeface="Arial"/>
                <a:ea typeface="Arial"/>
                <a:cs typeface="Arial"/>
                <a:sym typeface="Arial"/>
                <a:hlinkClick r:id="rId3"/>
              </a:rPr>
              <a:t>Andrey Breslav</a:t>
            </a:r>
            <a:r>
              <a:rPr lang="id"/>
              <a:t>, Kotlin mulai dikembangkan pada tahun 2010.</a:t>
            </a:r>
            <a:endParaRPr/>
          </a:p>
          <a:p>
            <a:pPr marL="457200" lvl="0" indent="-311150" algn="l" rtl="0">
              <a:spcBef>
                <a:spcPts val="0"/>
              </a:spcBef>
              <a:spcAft>
                <a:spcPts val="0"/>
              </a:spcAft>
              <a:buSzPts val="1300"/>
              <a:buChar char="●"/>
            </a:pPr>
            <a:r>
              <a:rPr lang="id"/>
              <a:t>Pada tahun 2012, JetBrains mengumumkan bahwa Kotlin merupakan bahasa pemrograman open-source.</a:t>
            </a:r>
            <a:endParaRPr/>
          </a:p>
          <a:p>
            <a:pPr marL="457200" lvl="0" indent="-311150" algn="l" rtl="0">
              <a:spcBef>
                <a:spcPts val="0"/>
              </a:spcBef>
              <a:spcAft>
                <a:spcPts val="0"/>
              </a:spcAft>
              <a:buSzPts val="1300"/>
              <a:buChar char="●"/>
            </a:pPr>
            <a:r>
              <a:rPr lang="id"/>
              <a:t>Pada Mei 2017, Google mengumumkan bahwa Kotlin menjadi salah satu bahasa pemrograman resmi untuk Android.</a:t>
            </a:r>
            <a:endParaRPr/>
          </a:p>
          <a:p>
            <a:pPr marL="457200" lvl="0" indent="-311150" algn="l" rtl="0">
              <a:spcBef>
                <a:spcPts val="0"/>
              </a:spcBef>
              <a:spcAft>
                <a:spcPts val="0"/>
              </a:spcAft>
              <a:buSzPts val="1300"/>
              <a:buChar char="●"/>
            </a:pPr>
            <a:r>
              <a:rPr lang="id"/>
              <a:t>Nama Kotlin berasal dari Pulau Kotlin di Rusia, dekat St. Petersburg.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Sebagai Bahasa Multiparadigm</a:t>
            </a:r>
            <a:endParaRPr/>
          </a:p>
        </p:txBody>
      </p:sp>
      <p:sp>
        <p:nvSpPr>
          <p:cNvPr id="110" name="Google Shape;110;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Kotlin adalah bahasa pemrograman yang mendukung beberapa gaya pemrograman.</a:t>
            </a:r>
            <a:endParaRPr/>
          </a:p>
          <a:p>
            <a:pPr marL="457200" lvl="0" indent="-311150" algn="l" rtl="0">
              <a:spcBef>
                <a:spcPts val="0"/>
              </a:spcBef>
              <a:spcAft>
                <a:spcPts val="0"/>
              </a:spcAft>
              <a:buSzPts val="1300"/>
              <a:buChar char="●"/>
            </a:pPr>
            <a:r>
              <a:rPr lang="id"/>
              <a:t>Kotlin mendukung paradigma pemrograman Object Oriented Programming (OOP), dengan paradigma ini kita bisa membuat class dengan prinsip dari pewarisan, enkapsulasi, polimorfisme, konstruktor , dll.</a:t>
            </a:r>
            <a:endParaRPr/>
          </a:p>
          <a:p>
            <a:pPr marL="457200" lvl="0" indent="-311150" algn="l" rtl="0">
              <a:spcBef>
                <a:spcPts val="0"/>
              </a:spcBef>
              <a:spcAft>
                <a:spcPts val="0"/>
              </a:spcAft>
              <a:buSzPts val="1300"/>
              <a:buChar char="●"/>
            </a:pPr>
            <a:r>
              <a:rPr lang="id"/>
              <a:t>Kotlin juga mendukung paradigma fungsionalitas dengan menggunakan konsep konsep seperti higher-order function, function types, extension functions, lambda, dll.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Sebagai Bahasa Multiparadigm</a:t>
            </a:r>
            <a:endParaRPr/>
          </a:p>
          <a:p>
            <a:pPr marL="0" lvl="0" indent="0" algn="l" rtl="0">
              <a:spcBef>
                <a:spcPts val="0"/>
              </a:spcBef>
              <a:spcAft>
                <a:spcPts val="0"/>
              </a:spcAft>
              <a:buNone/>
            </a:pPr>
            <a:endParaRPr/>
          </a:p>
        </p:txBody>
      </p:sp>
      <p:pic>
        <p:nvPicPr>
          <p:cNvPr id="116" name="Google Shape;116;p18"/>
          <p:cNvPicPr preferRelativeResize="0"/>
          <p:nvPr/>
        </p:nvPicPr>
        <p:blipFill>
          <a:blip r:embed="rId3">
            <a:alphaModFix/>
          </a:blip>
          <a:stretch>
            <a:fillRect/>
          </a:stretch>
        </p:blipFill>
        <p:spPr>
          <a:xfrm>
            <a:off x="1865550" y="2000025"/>
            <a:ext cx="5416501" cy="2475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Sebagai Bahasa Multiplatform</a:t>
            </a:r>
            <a:endParaRPr/>
          </a:p>
          <a:p>
            <a:pPr marL="0" lvl="0" indent="0" algn="l" rtl="0">
              <a:spcBef>
                <a:spcPts val="0"/>
              </a:spcBef>
              <a:spcAft>
                <a:spcPts val="0"/>
              </a:spcAft>
              <a:buNone/>
            </a:pPr>
            <a:endParaRPr/>
          </a:p>
        </p:txBody>
      </p:sp>
      <p:sp>
        <p:nvSpPr>
          <p:cNvPr id="122" name="Google Shape;122;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Multiplatform berarti mendukung lebih dari 1 (satu) platform.</a:t>
            </a:r>
            <a:endParaRPr/>
          </a:p>
          <a:p>
            <a:pPr marL="457200" lvl="0" indent="-311150" algn="l" rtl="0">
              <a:spcBef>
                <a:spcPts val="0"/>
              </a:spcBef>
              <a:spcAft>
                <a:spcPts val="0"/>
              </a:spcAft>
              <a:buSzPts val="1300"/>
              <a:buChar char="●"/>
            </a:pPr>
            <a:r>
              <a:rPr lang="id"/>
              <a:t>Kotlin multiplatform mendukung beberapa target platform diantaranya Android, iOS, Web, Desktop,  JVM, Native</a:t>
            </a:r>
            <a:endParaRPr/>
          </a:p>
          <a:p>
            <a:pPr marL="457200" lvl="0" indent="-311150" algn="l" rtl="0">
              <a:spcBef>
                <a:spcPts val="0"/>
              </a:spcBef>
              <a:spcAft>
                <a:spcPts val="0"/>
              </a:spcAft>
              <a:buSzPts val="1300"/>
              <a:buChar char="●"/>
            </a:pPr>
            <a:r>
              <a:rPr lang="id"/>
              <a:t>Kotlin Multiplatform menggunakan konsep "shared modules" untuk berbagi kode di antara platform yang berbeda. Anda dapat membuat modul Kotlin yang berisi kode bisnis logika yang dapat dikompilasi untuk semua platform yang didukung.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Sebagai Bahasa Multiplatform</a:t>
            </a:r>
            <a:endParaRPr/>
          </a:p>
          <a:p>
            <a:pPr marL="0" lvl="0" indent="0" algn="l" rtl="0">
              <a:spcBef>
                <a:spcPts val="0"/>
              </a:spcBef>
              <a:spcAft>
                <a:spcPts val="0"/>
              </a:spcAft>
              <a:buNone/>
            </a:pPr>
            <a:endParaRPr/>
          </a:p>
        </p:txBody>
      </p:sp>
      <p:pic>
        <p:nvPicPr>
          <p:cNvPr id="128" name="Google Shape;128;p20"/>
          <p:cNvPicPr preferRelativeResize="0"/>
          <p:nvPr/>
        </p:nvPicPr>
        <p:blipFill>
          <a:blip r:embed="rId3">
            <a:alphaModFix/>
          </a:blip>
          <a:stretch>
            <a:fillRect/>
          </a:stretch>
        </p:blipFill>
        <p:spPr>
          <a:xfrm>
            <a:off x="960363" y="1853850"/>
            <a:ext cx="7226875" cy="298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Untuk Server Side</a:t>
            </a:r>
            <a:endParaRPr/>
          </a:p>
        </p:txBody>
      </p:sp>
      <p:sp>
        <p:nvSpPr>
          <p:cNvPr id="134" name="Google Shape;134;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Kotlin dapat digunakan untuk pengembangan server side</a:t>
            </a:r>
            <a:endParaRPr/>
          </a:p>
          <a:p>
            <a:pPr marL="457200" lvl="0" indent="-311150" algn="l" rtl="0">
              <a:spcBef>
                <a:spcPts val="0"/>
              </a:spcBef>
              <a:spcAft>
                <a:spcPts val="0"/>
              </a:spcAft>
              <a:buSzPts val="1300"/>
              <a:buChar char="●"/>
            </a:pPr>
            <a:r>
              <a:rPr lang="id"/>
              <a:t>Berikut adalah beberapa framework server yang populer untuk kotlin seperti Spring Boot, Vert.x , Ktor. Framework ini menyediakan alat yang dapat kita gunakan untuk membangun server side menggunakan kotlin.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Kotlin Untuk Android</a:t>
            </a:r>
            <a:endParaRPr/>
          </a:p>
        </p:txBody>
      </p:sp>
      <p:sp>
        <p:nvSpPr>
          <p:cNvPr id="140" name="Google Shape;140;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Kotlin diresmikan oleh Google sebagai bahasa resmi untuk Android pada tahun 2017. Dukungan resmi ini membawa perhatian yang lebih besar terhadap Kotlin dan mengakui kualitasnya sebagai bahasa pemrograman modern yang dapat meningkatkan produktivitas pengembangan Android.</a:t>
            </a:r>
            <a:endParaRPr/>
          </a:p>
          <a:p>
            <a:pPr marL="457200" lvl="0" indent="-311150" algn="l" rtl="0">
              <a:spcBef>
                <a:spcPts val="0"/>
              </a:spcBef>
              <a:spcAft>
                <a:spcPts val="0"/>
              </a:spcAft>
              <a:buSzPts val="1300"/>
              <a:buChar char="●"/>
            </a:pPr>
            <a:r>
              <a:rPr lang="id"/>
              <a:t>Kotlin didukung oleh alat-alat pengembangan Android seperti Android Studio, yang menyediakan dukungan penuh untuk bahasa tersebut.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Hello World Kotlin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Hello World!</a:t>
            </a:r>
            <a:endParaRPr/>
          </a:p>
        </p:txBody>
      </p:sp>
      <p:pic>
        <p:nvPicPr>
          <p:cNvPr id="151" name="Google Shape;151;p24"/>
          <p:cNvPicPr preferRelativeResize="0"/>
          <p:nvPr/>
        </p:nvPicPr>
        <p:blipFill>
          <a:blip r:embed="rId3">
            <a:alphaModFix/>
          </a:blip>
          <a:stretch>
            <a:fillRect/>
          </a:stretch>
        </p:blipFill>
        <p:spPr>
          <a:xfrm>
            <a:off x="2173763" y="2082992"/>
            <a:ext cx="4796475" cy="1480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Kotlin Fundamental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Variabel &amp; Tipe Data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Variable</a:t>
            </a:r>
            <a:endParaRPr/>
          </a:p>
        </p:txBody>
      </p:sp>
      <p:sp>
        <p:nvSpPr>
          <p:cNvPr id="167" name="Google Shape;167;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Umumnya variabel digunakan untuk menyimpan informasi atau nilai yang akan dikelola di dalam sebuah program. </a:t>
            </a:r>
            <a:endParaRPr/>
          </a:p>
          <a:p>
            <a:pPr marL="457200" lvl="0" indent="-311150" algn="l" rtl="0">
              <a:spcBef>
                <a:spcPts val="0"/>
              </a:spcBef>
              <a:spcAft>
                <a:spcPts val="0"/>
              </a:spcAft>
              <a:buSzPts val="1300"/>
              <a:buChar char="●"/>
            </a:pPr>
            <a:r>
              <a:rPr lang="id"/>
              <a:t>Simple nya variable adalah sebuah wadah untuk menampung atau menyimpan sebuah nilai.</a:t>
            </a:r>
            <a:endParaRPr/>
          </a:p>
          <a:p>
            <a:pPr marL="457200" lvl="0" indent="-311150" algn="l" rtl="0">
              <a:spcBef>
                <a:spcPts val="0"/>
              </a:spcBef>
              <a:spcAft>
                <a:spcPts val="0"/>
              </a:spcAft>
              <a:buSzPts val="1300"/>
              <a:buChar char="●"/>
            </a:pPr>
            <a:r>
              <a:rPr lang="id"/>
              <a:t>Di dalam kotlin variabel dapat dideklarasikan dengan kata kunci </a:t>
            </a:r>
            <a:r>
              <a:rPr lang="id" b="1"/>
              <a:t>var </a:t>
            </a:r>
            <a:r>
              <a:rPr lang="id"/>
              <a:t>dan </a:t>
            </a:r>
            <a:r>
              <a:rPr lang="id" b="1"/>
              <a:t>val</a:t>
            </a:r>
            <a:r>
              <a:rPr lang="id"/>
              <a:t>.</a:t>
            </a:r>
            <a:endParaRPr/>
          </a:p>
          <a:p>
            <a:pPr marL="457200" lvl="0" indent="-311150" algn="l" rtl="0">
              <a:spcBef>
                <a:spcPts val="0"/>
              </a:spcBef>
              <a:spcAft>
                <a:spcPts val="0"/>
              </a:spcAft>
              <a:buSzPts val="1300"/>
              <a:buChar char="●"/>
            </a:pPr>
            <a:r>
              <a:rPr lang="id"/>
              <a:t>Var adalah variabel yang bisa diubah nilainya.</a:t>
            </a:r>
            <a:endParaRPr/>
          </a:p>
          <a:p>
            <a:pPr marL="457200" lvl="0" indent="-311150" algn="l" rtl="0">
              <a:spcBef>
                <a:spcPts val="0"/>
              </a:spcBef>
              <a:spcAft>
                <a:spcPts val="0"/>
              </a:spcAft>
              <a:buSzPts val="1300"/>
              <a:buChar char="●"/>
            </a:pPr>
            <a:r>
              <a:rPr lang="id"/>
              <a:t>Val adalah variabel yang tidak bisa diubah nilainya.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Tipe Data</a:t>
            </a:r>
            <a:endParaRPr/>
          </a:p>
        </p:txBody>
      </p:sp>
      <p:sp>
        <p:nvSpPr>
          <p:cNvPr id="173" name="Google Shape;173;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id"/>
              <a:t>Tipe data adalah sebuah pengelompokan data berdasarkan jenisnya Tipe data juga dapat diartikan sebagai format penyimpanan data. Untuk mengembangkan sebuah program, ada beberapa tipe data yang akan kita pelajari. Di antaranya adalah Character, String, Array, Numbers, dan Booleans.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Char</a:t>
            </a:r>
            <a:endParaRPr/>
          </a:p>
        </p:txBody>
      </p:sp>
      <p:sp>
        <p:nvSpPr>
          <p:cNvPr id="179" name="Google Shape;179;p2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Tipe data char biasanya sebuah tipe data yang merepresentasikan karakter tunggal.</a:t>
            </a:r>
            <a:endParaRPr/>
          </a:p>
          <a:p>
            <a:pPr marL="457200" lvl="0" indent="-311150" algn="l" rtl="0">
              <a:spcBef>
                <a:spcPts val="0"/>
              </a:spcBef>
              <a:spcAft>
                <a:spcPts val="0"/>
              </a:spcAft>
              <a:buSzPts val="1300"/>
              <a:buChar char="●"/>
            </a:pPr>
            <a:r>
              <a:rPr lang="id"/>
              <a:t>Pada dasarnya setiap Characters merupakan representasi dari </a:t>
            </a:r>
            <a:r>
              <a:rPr lang="id" b="1" u="sng">
                <a:solidFill>
                  <a:schemeClr val="hlink"/>
                </a:solidFill>
                <a:hlinkClick r:id="rId3"/>
              </a:rPr>
              <a:t>Unicode</a:t>
            </a:r>
            <a:r>
              <a:rPr lang="id"/>
              <a:t>. Contoh </a:t>
            </a:r>
            <a:r>
              <a:rPr lang="id" b="1"/>
              <a:t>Unicode A</a:t>
            </a:r>
            <a:r>
              <a:rPr lang="id"/>
              <a:t> adalah </a:t>
            </a:r>
            <a:r>
              <a:rPr lang="id" b="1"/>
              <a:t>0041</a:t>
            </a:r>
            <a:r>
              <a:rPr lang="id"/>
              <a:t>.</a:t>
            </a:r>
            <a:endParaRPr/>
          </a:p>
          <a:p>
            <a:pPr marL="457200" lvl="0" indent="-311150" algn="l" rtl="0">
              <a:spcBef>
                <a:spcPts val="0"/>
              </a:spcBef>
              <a:spcAft>
                <a:spcPts val="0"/>
              </a:spcAft>
              <a:buSzPts val="1300"/>
              <a:buChar char="●"/>
            </a:pPr>
            <a:r>
              <a:rPr lang="id"/>
              <a:t>Untuk mendefinisikan sebuah variabel dengan tipe data Char kita bisa menggunakan tanda kutip tunggal </a:t>
            </a:r>
            <a:r>
              <a:rPr lang="id" b="1"/>
              <a:t>(' ').</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Char</a:t>
            </a:r>
            <a:endParaRPr/>
          </a:p>
        </p:txBody>
      </p:sp>
      <p:pic>
        <p:nvPicPr>
          <p:cNvPr id="185" name="Google Shape;185;p30"/>
          <p:cNvPicPr preferRelativeResize="0"/>
          <p:nvPr/>
        </p:nvPicPr>
        <p:blipFill>
          <a:blip r:embed="rId3">
            <a:alphaModFix/>
          </a:blip>
          <a:stretch>
            <a:fillRect/>
          </a:stretch>
        </p:blipFill>
        <p:spPr>
          <a:xfrm>
            <a:off x="2695688" y="1853850"/>
            <a:ext cx="3752625" cy="2871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String</a:t>
            </a:r>
            <a:endParaRPr/>
          </a:p>
        </p:txBody>
      </p:sp>
      <p:sp>
        <p:nvSpPr>
          <p:cNvPr id="191" name="Google Shape;191;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String merupakan tipe data yang mirip dengan Char. Namun perbedaan nya string ini bisa digunakan untuk menampung sekumpulan karakter atau teks.</a:t>
            </a:r>
            <a:endParaRPr/>
          </a:p>
          <a:p>
            <a:pPr marL="457200" lvl="0" indent="-311150" algn="l" rtl="0">
              <a:spcBef>
                <a:spcPts val="0"/>
              </a:spcBef>
              <a:spcAft>
                <a:spcPts val="0"/>
              </a:spcAft>
              <a:buSzPts val="1300"/>
              <a:buChar char="●"/>
            </a:pPr>
            <a:r>
              <a:rPr lang="id"/>
              <a:t>Untuk mendefinisikan sebuah variabel dengan tipe data string bisa menggunakan </a:t>
            </a:r>
            <a:r>
              <a:rPr lang="id" b="1"/>
              <a:t>(“ ”) </a:t>
            </a:r>
            <a:r>
              <a:rPr lang="id"/>
              <a:t>petik dua.</a:t>
            </a:r>
            <a:endParaRPr/>
          </a:p>
          <a:p>
            <a:pPr marL="457200" lvl="0" indent="-311150" algn="l" rtl="0">
              <a:spcBef>
                <a:spcPts val="0"/>
              </a:spcBef>
              <a:spcAft>
                <a:spcPts val="0"/>
              </a:spcAft>
              <a:buSzPts val="1300"/>
              <a:buChar char="●"/>
            </a:pPr>
            <a:r>
              <a:rPr lang="id"/>
              <a:t>Di dalam kotlin kita juga bisa menggabung beberapa string dengan menggunakan +.</a:t>
            </a:r>
            <a:endParaRPr/>
          </a:p>
          <a:p>
            <a:pPr marL="457200" lvl="0" indent="-311150" algn="l" rtl="0">
              <a:spcBef>
                <a:spcPts val="0"/>
              </a:spcBef>
              <a:spcAft>
                <a:spcPts val="0"/>
              </a:spcAft>
              <a:buSzPts val="1300"/>
              <a:buChar char="●"/>
            </a:pPr>
            <a:r>
              <a:rPr lang="id"/>
              <a:t>Kotlin juga memiliki string interpolation untuk menggabungkan beberapa string dengan menggunakan keyword</a:t>
            </a:r>
            <a:r>
              <a:rPr lang="id" b="1"/>
              <a:t> $nama_variable</a:t>
            </a:r>
            <a:r>
              <a:rPr lang="id"/>
              <a:t> atau juga bisa menggunakan </a:t>
            </a:r>
            <a:r>
              <a:rPr lang="id" b="1"/>
              <a:t>${nama_variable}.</a:t>
            </a:r>
            <a:endParaRPr b="1"/>
          </a:p>
          <a:p>
            <a:pPr marL="457200" lvl="0" indent="-311150" algn="l" rtl="0">
              <a:spcBef>
                <a:spcPts val="0"/>
              </a:spcBef>
              <a:spcAft>
                <a:spcPts val="0"/>
              </a:spcAft>
              <a:buSzPts val="1300"/>
              <a:buChar char="●"/>
            </a:pPr>
            <a:r>
              <a:rPr lang="id"/>
              <a:t>Di kotlin juga kita bisa menggunakan beberapa metode untuk tipe data string misalnya menggunakan </a:t>
            </a:r>
            <a:r>
              <a:rPr lang="id" b="1"/>
              <a:t>toUpperCase()</a:t>
            </a:r>
            <a:r>
              <a:rPr lang="id"/>
              <a:t> untuk mengubah string menjadi huruf kapital dan </a:t>
            </a:r>
            <a:r>
              <a:rPr lang="id" b="1"/>
              <a:t>toLowerCase() </a:t>
            </a:r>
            <a:r>
              <a:rPr lang="id"/>
              <a:t>untuk mengubah string menjadi huruf kecil dan masih banyak lagi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Implementasi String dalam Variabel</a:t>
            </a:r>
            <a:endParaRPr/>
          </a:p>
        </p:txBody>
      </p:sp>
      <p:pic>
        <p:nvPicPr>
          <p:cNvPr id="197" name="Google Shape;197;p32"/>
          <p:cNvPicPr preferRelativeResize="0"/>
          <p:nvPr/>
        </p:nvPicPr>
        <p:blipFill>
          <a:blip r:embed="rId3">
            <a:alphaModFix/>
          </a:blip>
          <a:stretch>
            <a:fillRect/>
          </a:stretch>
        </p:blipFill>
        <p:spPr>
          <a:xfrm>
            <a:off x="1697417" y="1853850"/>
            <a:ext cx="5752775" cy="3058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Penggabungan string</a:t>
            </a:r>
            <a:endParaRPr/>
          </a:p>
        </p:txBody>
      </p:sp>
      <p:pic>
        <p:nvPicPr>
          <p:cNvPr id="203" name="Google Shape;203;p33"/>
          <p:cNvPicPr preferRelativeResize="0"/>
          <p:nvPr/>
        </p:nvPicPr>
        <p:blipFill>
          <a:blip r:embed="rId3">
            <a:alphaModFix/>
          </a:blip>
          <a:stretch>
            <a:fillRect/>
          </a:stretch>
        </p:blipFill>
        <p:spPr>
          <a:xfrm>
            <a:off x="729450" y="2228150"/>
            <a:ext cx="3552450" cy="2642125"/>
          </a:xfrm>
          <a:prstGeom prst="rect">
            <a:avLst/>
          </a:prstGeom>
          <a:noFill/>
          <a:ln>
            <a:noFill/>
          </a:ln>
        </p:spPr>
      </p:pic>
      <p:sp>
        <p:nvSpPr>
          <p:cNvPr id="204" name="Google Shape;204;p33"/>
          <p:cNvSpPr txBox="1"/>
          <p:nvPr/>
        </p:nvSpPr>
        <p:spPr>
          <a:xfrm>
            <a:off x="729450" y="1853850"/>
            <a:ext cx="1514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d" sz="1300">
                <a:solidFill>
                  <a:schemeClr val="accent1"/>
                </a:solidFill>
                <a:latin typeface="Lato"/>
                <a:ea typeface="Lato"/>
                <a:cs typeface="Lato"/>
                <a:sym typeface="Lato"/>
              </a:rPr>
              <a:t>Menggunakan +</a:t>
            </a:r>
            <a:endParaRPr sz="1300">
              <a:solidFill>
                <a:schemeClr val="accent1"/>
              </a:solidFill>
              <a:latin typeface="Lato"/>
              <a:ea typeface="Lato"/>
              <a:cs typeface="Lato"/>
              <a:sym typeface="Lato"/>
            </a:endParaRPr>
          </a:p>
        </p:txBody>
      </p:sp>
      <p:pic>
        <p:nvPicPr>
          <p:cNvPr id="205" name="Google Shape;205;p33"/>
          <p:cNvPicPr preferRelativeResize="0"/>
          <p:nvPr/>
        </p:nvPicPr>
        <p:blipFill>
          <a:blip r:embed="rId4">
            <a:alphaModFix/>
          </a:blip>
          <a:stretch>
            <a:fillRect/>
          </a:stretch>
        </p:blipFill>
        <p:spPr>
          <a:xfrm>
            <a:off x="4760675" y="2228150"/>
            <a:ext cx="4101976" cy="2642125"/>
          </a:xfrm>
          <a:prstGeom prst="rect">
            <a:avLst/>
          </a:prstGeom>
          <a:noFill/>
          <a:ln>
            <a:noFill/>
          </a:ln>
        </p:spPr>
      </p:pic>
      <p:sp>
        <p:nvSpPr>
          <p:cNvPr id="206" name="Google Shape;206;p33"/>
          <p:cNvSpPr txBox="1"/>
          <p:nvPr/>
        </p:nvSpPr>
        <p:spPr>
          <a:xfrm>
            <a:off x="4760675" y="1853850"/>
            <a:ext cx="2158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d" sz="1300">
                <a:solidFill>
                  <a:schemeClr val="accent1"/>
                </a:solidFill>
                <a:latin typeface="Lato"/>
                <a:ea typeface="Lato"/>
                <a:cs typeface="Lato"/>
                <a:sym typeface="Lato"/>
              </a:rPr>
              <a:t>String interpolation</a:t>
            </a:r>
            <a:endParaRPr sz="1300">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String method</a:t>
            </a:r>
            <a:endParaRPr/>
          </a:p>
        </p:txBody>
      </p:sp>
      <p:pic>
        <p:nvPicPr>
          <p:cNvPr id="212" name="Google Shape;212;p34"/>
          <p:cNvPicPr preferRelativeResize="0"/>
          <p:nvPr/>
        </p:nvPicPr>
        <p:blipFill>
          <a:blip r:embed="rId3">
            <a:alphaModFix/>
          </a:blip>
          <a:stretch>
            <a:fillRect/>
          </a:stretch>
        </p:blipFill>
        <p:spPr>
          <a:xfrm>
            <a:off x="929325" y="1853850"/>
            <a:ext cx="5454075" cy="2863100"/>
          </a:xfrm>
          <a:prstGeom prst="rect">
            <a:avLst/>
          </a:prstGeom>
          <a:noFill/>
          <a:ln>
            <a:noFill/>
          </a:ln>
        </p:spPr>
      </p:pic>
      <p:pic>
        <p:nvPicPr>
          <p:cNvPr id="213" name="Google Shape;213;p34"/>
          <p:cNvPicPr preferRelativeResize="0"/>
          <p:nvPr/>
        </p:nvPicPr>
        <p:blipFill>
          <a:blip r:embed="rId4">
            <a:alphaModFix/>
          </a:blip>
          <a:stretch>
            <a:fillRect/>
          </a:stretch>
        </p:blipFill>
        <p:spPr>
          <a:xfrm>
            <a:off x="6509675" y="1853850"/>
            <a:ext cx="1704999" cy="2863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Boolean</a:t>
            </a:r>
            <a:endParaRPr/>
          </a:p>
        </p:txBody>
      </p:sp>
      <p:sp>
        <p:nvSpPr>
          <p:cNvPr id="219" name="Google Shape;219;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Boolean adalah sebuah tipe data yang hanya memiliki dua nilai, yaitu true dan false. Terdapat 3 (tiga) operator yang dapat digunakan pada Boolean yaitu AND (&amp;&amp;), OR (||) NOT (!).</a:t>
            </a:r>
            <a:endParaRPr/>
          </a:p>
          <a:p>
            <a:pPr marL="457200" lvl="0" indent="-311150" algn="l" rtl="0">
              <a:spcBef>
                <a:spcPts val="0"/>
              </a:spcBef>
              <a:spcAft>
                <a:spcPts val="0"/>
              </a:spcAft>
              <a:buSzPts val="1300"/>
              <a:buChar char="●"/>
            </a:pPr>
            <a:r>
              <a:rPr lang="id"/>
              <a:t>Serta terdapat juga perbandingan seperti (==, &lt;, &gt;, =&lt;, =&gt;,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AND (&amp;&amp;)</a:t>
            </a:r>
            <a:endParaRPr/>
          </a:p>
        </p:txBody>
      </p:sp>
      <p:graphicFrame>
        <p:nvGraphicFramePr>
          <p:cNvPr id="225" name="Google Shape;225;p36"/>
          <p:cNvGraphicFramePr/>
          <p:nvPr/>
        </p:nvGraphicFramePr>
        <p:xfrm>
          <a:off x="952500" y="1853850"/>
          <a:ext cx="7239000" cy="2405375"/>
        </p:xfrm>
        <a:graphic>
          <a:graphicData uri="http://schemas.openxmlformats.org/drawingml/2006/table">
            <a:tbl>
              <a:tblPr>
                <a:noFill/>
                <a:tableStyleId>{4DF57600-B679-433A-AE7B-506B9E079C9E}</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481075">
                <a:tc>
                  <a:txBody>
                    <a:bodyPr/>
                    <a:lstStyle/>
                    <a:p>
                      <a:pPr marL="0" lvl="0" indent="0" algn="l" rtl="0">
                        <a:spcBef>
                          <a:spcPts val="0"/>
                        </a:spcBef>
                        <a:spcAft>
                          <a:spcPts val="0"/>
                        </a:spcAft>
                        <a:buNone/>
                      </a:pPr>
                      <a:r>
                        <a:rPr lang="id"/>
                        <a:t>Statement 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id"/>
                        <a:t>Statement 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id"/>
                        <a:t>Result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81075">
                <a:tc>
                  <a:txBody>
                    <a:bodyPr/>
                    <a:lstStyle/>
                    <a:p>
                      <a:pPr marL="0" lvl="0" indent="0" algn="l" rtl="0">
                        <a:spcBef>
                          <a:spcPts val="0"/>
                        </a:spcBef>
                        <a:spcAft>
                          <a:spcPts val="0"/>
                        </a:spcAft>
                        <a:buNone/>
                      </a:pPr>
                      <a:r>
                        <a:rPr lang="id"/>
                        <a:t>T</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id"/>
                        <a:t>T</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id"/>
                        <a:t>T</a:t>
                      </a:r>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481075">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extLst>
                  <a:ext uri="{0D108BD9-81ED-4DB2-BD59-A6C34878D82A}">
                    <a16:rowId xmlns:a16="http://schemas.microsoft.com/office/drawing/2014/main" val="10002"/>
                  </a:ext>
                </a:extLst>
              </a:tr>
              <a:tr h="481075">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extLst>
                  <a:ext uri="{0D108BD9-81ED-4DB2-BD59-A6C34878D82A}">
                    <a16:rowId xmlns:a16="http://schemas.microsoft.com/office/drawing/2014/main" val="10003"/>
                  </a:ext>
                </a:extLst>
              </a:tr>
              <a:tr h="481075">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OR ( || )</a:t>
            </a:r>
            <a:endParaRPr/>
          </a:p>
        </p:txBody>
      </p:sp>
      <p:graphicFrame>
        <p:nvGraphicFramePr>
          <p:cNvPr id="231" name="Google Shape;231;p37"/>
          <p:cNvGraphicFramePr/>
          <p:nvPr/>
        </p:nvGraphicFramePr>
        <p:xfrm>
          <a:off x="954300" y="1853850"/>
          <a:ext cx="7239000" cy="2405375"/>
        </p:xfrm>
        <a:graphic>
          <a:graphicData uri="http://schemas.openxmlformats.org/drawingml/2006/table">
            <a:tbl>
              <a:tblPr>
                <a:noFill/>
                <a:tableStyleId>{4DF57600-B679-433A-AE7B-506B9E079C9E}</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481075">
                <a:tc>
                  <a:txBody>
                    <a:bodyPr/>
                    <a:lstStyle/>
                    <a:p>
                      <a:pPr marL="0" lvl="0" indent="0" algn="l" rtl="0">
                        <a:spcBef>
                          <a:spcPts val="0"/>
                        </a:spcBef>
                        <a:spcAft>
                          <a:spcPts val="0"/>
                        </a:spcAft>
                        <a:buNone/>
                      </a:pPr>
                      <a:r>
                        <a:rPr lang="id"/>
                        <a:t>Statement 1</a:t>
                      </a:r>
                      <a:endParaRPr/>
                    </a:p>
                  </a:txBody>
                  <a:tcPr marL="91425" marR="91425" marT="91425" marB="91425"/>
                </a:tc>
                <a:tc>
                  <a:txBody>
                    <a:bodyPr/>
                    <a:lstStyle/>
                    <a:p>
                      <a:pPr marL="0" lvl="0" indent="0" algn="l" rtl="0">
                        <a:spcBef>
                          <a:spcPts val="0"/>
                        </a:spcBef>
                        <a:spcAft>
                          <a:spcPts val="0"/>
                        </a:spcAft>
                        <a:buNone/>
                      </a:pPr>
                      <a:r>
                        <a:rPr lang="id"/>
                        <a:t>Statement 2</a:t>
                      </a:r>
                      <a:endParaRPr/>
                    </a:p>
                  </a:txBody>
                  <a:tcPr marL="91425" marR="91425" marT="91425" marB="91425"/>
                </a:tc>
                <a:tc>
                  <a:txBody>
                    <a:bodyPr/>
                    <a:lstStyle/>
                    <a:p>
                      <a:pPr marL="0" lvl="0" indent="0" algn="l" rtl="0">
                        <a:spcBef>
                          <a:spcPts val="0"/>
                        </a:spcBef>
                        <a:spcAft>
                          <a:spcPts val="0"/>
                        </a:spcAft>
                        <a:buNone/>
                      </a:pPr>
                      <a:r>
                        <a:rPr lang="id"/>
                        <a:t>Result</a:t>
                      </a:r>
                      <a:endParaRPr/>
                    </a:p>
                  </a:txBody>
                  <a:tcPr marL="91425" marR="91425" marT="91425" marB="91425"/>
                </a:tc>
                <a:extLst>
                  <a:ext uri="{0D108BD9-81ED-4DB2-BD59-A6C34878D82A}">
                    <a16:rowId xmlns:a16="http://schemas.microsoft.com/office/drawing/2014/main" val="10000"/>
                  </a:ext>
                </a:extLst>
              </a:tr>
              <a:tr h="481075">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extLst>
                  <a:ext uri="{0D108BD9-81ED-4DB2-BD59-A6C34878D82A}">
                    <a16:rowId xmlns:a16="http://schemas.microsoft.com/office/drawing/2014/main" val="10001"/>
                  </a:ext>
                </a:extLst>
              </a:tr>
              <a:tr h="481075">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extLst>
                  <a:ext uri="{0D108BD9-81ED-4DB2-BD59-A6C34878D82A}">
                    <a16:rowId xmlns:a16="http://schemas.microsoft.com/office/drawing/2014/main" val="10002"/>
                  </a:ext>
                </a:extLst>
              </a:tr>
              <a:tr h="481075">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extLst>
                  <a:ext uri="{0D108BD9-81ED-4DB2-BD59-A6C34878D82A}">
                    <a16:rowId xmlns:a16="http://schemas.microsoft.com/office/drawing/2014/main" val="10003"/>
                  </a:ext>
                </a:extLst>
              </a:tr>
              <a:tr h="481075">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NOT (!)</a:t>
            </a:r>
            <a:endParaRPr/>
          </a:p>
        </p:txBody>
      </p:sp>
      <p:graphicFrame>
        <p:nvGraphicFramePr>
          <p:cNvPr id="237" name="Google Shape;237;p38"/>
          <p:cNvGraphicFramePr/>
          <p:nvPr/>
        </p:nvGraphicFramePr>
        <p:xfrm>
          <a:off x="2159000" y="1850138"/>
          <a:ext cx="4826000" cy="1443225"/>
        </p:xfrm>
        <a:graphic>
          <a:graphicData uri="http://schemas.openxmlformats.org/drawingml/2006/table">
            <a:tbl>
              <a:tblPr>
                <a:noFill/>
                <a:tableStyleId>{4DF57600-B679-433A-AE7B-506B9E079C9E}</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tblGrid>
              <a:tr h="481075">
                <a:tc>
                  <a:txBody>
                    <a:bodyPr/>
                    <a:lstStyle/>
                    <a:p>
                      <a:pPr marL="0" lvl="0" indent="0" algn="l" rtl="0">
                        <a:spcBef>
                          <a:spcPts val="0"/>
                        </a:spcBef>
                        <a:spcAft>
                          <a:spcPts val="0"/>
                        </a:spcAft>
                        <a:buNone/>
                      </a:pPr>
                      <a:r>
                        <a:rPr lang="id"/>
                        <a:t>Statement</a:t>
                      </a:r>
                      <a:endParaRPr/>
                    </a:p>
                  </a:txBody>
                  <a:tcPr marL="91425" marR="91425" marT="91425" marB="91425"/>
                </a:tc>
                <a:tc>
                  <a:txBody>
                    <a:bodyPr/>
                    <a:lstStyle/>
                    <a:p>
                      <a:pPr marL="0" lvl="0" indent="0" algn="l" rtl="0">
                        <a:spcBef>
                          <a:spcPts val="0"/>
                        </a:spcBef>
                        <a:spcAft>
                          <a:spcPts val="0"/>
                        </a:spcAft>
                        <a:buNone/>
                      </a:pPr>
                      <a:r>
                        <a:rPr lang="id"/>
                        <a:t>Result</a:t>
                      </a:r>
                      <a:endParaRPr/>
                    </a:p>
                  </a:txBody>
                  <a:tcPr marL="91425" marR="91425" marT="91425" marB="91425"/>
                </a:tc>
                <a:extLst>
                  <a:ext uri="{0D108BD9-81ED-4DB2-BD59-A6C34878D82A}">
                    <a16:rowId xmlns:a16="http://schemas.microsoft.com/office/drawing/2014/main" val="10000"/>
                  </a:ext>
                </a:extLst>
              </a:tr>
              <a:tr h="481075">
                <a:tc>
                  <a:txBody>
                    <a:bodyPr/>
                    <a:lstStyle/>
                    <a:p>
                      <a:pPr marL="0" lvl="0" indent="0" algn="l" rtl="0">
                        <a:spcBef>
                          <a:spcPts val="0"/>
                        </a:spcBef>
                        <a:spcAft>
                          <a:spcPts val="0"/>
                        </a:spcAft>
                        <a:buNone/>
                      </a:pPr>
                      <a:r>
                        <a:rPr lang="id"/>
                        <a:t>T</a:t>
                      </a:r>
                      <a:endParaRPr/>
                    </a:p>
                  </a:txBody>
                  <a:tcPr marL="91425" marR="91425" marT="91425" marB="91425"/>
                </a:tc>
                <a:tc>
                  <a:txBody>
                    <a:bodyPr/>
                    <a:lstStyle/>
                    <a:p>
                      <a:pPr marL="0" lvl="0" indent="0" algn="l" rtl="0">
                        <a:spcBef>
                          <a:spcPts val="0"/>
                        </a:spcBef>
                        <a:spcAft>
                          <a:spcPts val="0"/>
                        </a:spcAft>
                        <a:buNone/>
                      </a:pPr>
                      <a:r>
                        <a:rPr lang="id"/>
                        <a:t>F</a:t>
                      </a:r>
                      <a:endParaRPr/>
                    </a:p>
                  </a:txBody>
                  <a:tcPr marL="91425" marR="91425" marT="91425" marB="91425"/>
                </a:tc>
                <a:extLst>
                  <a:ext uri="{0D108BD9-81ED-4DB2-BD59-A6C34878D82A}">
                    <a16:rowId xmlns:a16="http://schemas.microsoft.com/office/drawing/2014/main" val="10001"/>
                  </a:ext>
                </a:extLst>
              </a:tr>
              <a:tr h="481075">
                <a:tc>
                  <a:txBody>
                    <a:bodyPr/>
                    <a:lstStyle/>
                    <a:p>
                      <a:pPr marL="0" lvl="0" indent="0" algn="l" rtl="0">
                        <a:spcBef>
                          <a:spcPts val="0"/>
                        </a:spcBef>
                        <a:spcAft>
                          <a:spcPts val="0"/>
                        </a:spcAft>
                        <a:buNone/>
                      </a:pPr>
                      <a:r>
                        <a:rPr lang="id"/>
                        <a:t>F</a:t>
                      </a:r>
                      <a:endParaRPr/>
                    </a:p>
                  </a:txBody>
                  <a:tcPr marL="91425" marR="91425" marT="91425" marB="91425"/>
                </a:tc>
                <a:tc>
                  <a:txBody>
                    <a:bodyPr/>
                    <a:lstStyle/>
                    <a:p>
                      <a:pPr marL="0" lvl="0" indent="0" algn="l" rtl="0">
                        <a:spcBef>
                          <a:spcPts val="0"/>
                        </a:spcBef>
                        <a:spcAft>
                          <a:spcPts val="0"/>
                        </a:spcAft>
                        <a:buNone/>
                      </a:pPr>
                      <a:r>
                        <a:rPr lang="id"/>
                        <a:t>T</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Boolean</a:t>
            </a:r>
            <a:endParaRPr/>
          </a:p>
        </p:txBody>
      </p:sp>
      <p:pic>
        <p:nvPicPr>
          <p:cNvPr id="243" name="Google Shape;243;p39"/>
          <p:cNvPicPr preferRelativeResize="0"/>
          <p:nvPr/>
        </p:nvPicPr>
        <p:blipFill>
          <a:blip r:embed="rId3">
            <a:alphaModFix/>
          </a:blip>
          <a:stretch>
            <a:fillRect/>
          </a:stretch>
        </p:blipFill>
        <p:spPr>
          <a:xfrm>
            <a:off x="986450" y="1853850"/>
            <a:ext cx="3725900" cy="2602025"/>
          </a:xfrm>
          <a:prstGeom prst="rect">
            <a:avLst/>
          </a:prstGeom>
          <a:noFill/>
          <a:ln>
            <a:noFill/>
          </a:ln>
        </p:spPr>
      </p:pic>
      <p:pic>
        <p:nvPicPr>
          <p:cNvPr id="244" name="Google Shape;244;p39"/>
          <p:cNvPicPr preferRelativeResize="0"/>
          <p:nvPr/>
        </p:nvPicPr>
        <p:blipFill>
          <a:blip r:embed="rId4">
            <a:alphaModFix/>
          </a:blip>
          <a:stretch>
            <a:fillRect/>
          </a:stretch>
        </p:blipFill>
        <p:spPr>
          <a:xfrm>
            <a:off x="4829000" y="1853850"/>
            <a:ext cx="3328560" cy="2602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Boolean (==, &lt;, &gt;, &lt;=, &gt;=)</a:t>
            </a:r>
            <a:endParaRPr/>
          </a:p>
        </p:txBody>
      </p:sp>
      <p:pic>
        <p:nvPicPr>
          <p:cNvPr id="250" name="Google Shape;250;p40"/>
          <p:cNvPicPr preferRelativeResize="0"/>
          <p:nvPr/>
        </p:nvPicPr>
        <p:blipFill>
          <a:blip r:embed="rId3">
            <a:alphaModFix/>
          </a:blip>
          <a:stretch>
            <a:fillRect/>
          </a:stretch>
        </p:blipFill>
        <p:spPr>
          <a:xfrm>
            <a:off x="729450" y="1853850"/>
            <a:ext cx="3995100" cy="3002450"/>
          </a:xfrm>
          <a:prstGeom prst="rect">
            <a:avLst/>
          </a:prstGeom>
          <a:noFill/>
          <a:ln>
            <a:noFill/>
          </a:ln>
        </p:spPr>
      </p:pic>
      <p:pic>
        <p:nvPicPr>
          <p:cNvPr id="251" name="Google Shape;251;p40"/>
          <p:cNvPicPr preferRelativeResize="0"/>
          <p:nvPr/>
        </p:nvPicPr>
        <p:blipFill>
          <a:blip r:embed="rId4">
            <a:alphaModFix/>
          </a:blip>
          <a:stretch>
            <a:fillRect/>
          </a:stretch>
        </p:blipFill>
        <p:spPr>
          <a:xfrm>
            <a:off x="4876950" y="1914875"/>
            <a:ext cx="3541200" cy="258626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Numbers</a:t>
            </a:r>
            <a:endParaRPr/>
          </a:p>
        </p:txBody>
      </p:sp>
      <p:sp>
        <p:nvSpPr>
          <p:cNvPr id="257" name="Google Shape;257;p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id"/>
              <a:t>Beberapa tipe bawaan yang merepresentasikan Numbers di Kotlin adalah Double, Long, Int, Short dan Byte</a:t>
            </a:r>
            <a:endParaRPr/>
          </a:p>
          <a:p>
            <a:pPr marL="457200" lvl="0" indent="-311150" algn="l" rtl="0">
              <a:spcBef>
                <a:spcPts val="0"/>
              </a:spcBef>
              <a:spcAft>
                <a:spcPts val="0"/>
              </a:spcAft>
              <a:buSzPts val="1300"/>
              <a:buChar char="●"/>
            </a:pPr>
            <a:r>
              <a:rPr lang="id"/>
              <a:t>Int adalah tipe data yang umumnya digunakan untuk menyimpan nilai numerik. Int dapat menyimpan data dari range -2^31 sampai +2^31-1 atau 32 bit.</a:t>
            </a:r>
            <a:endParaRPr/>
          </a:p>
          <a:p>
            <a:pPr marL="457200" lvl="0" indent="-311150" algn="l" rtl="0">
              <a:spcBef>
                <a:spcPts val="0"/>
              </a:spcBef>
              <a:spcAft>
                <a:spcPts val="0"/>
              </a:spcAft>
              <a:buSzPts val="1300"/>
              <a:buChar char="●"/>
            </a:pPr>
            <a:r>
              <a:rPr lang="id"/>
              <a:t>Long adalah tipe data yang digunakan untuk menyimpan nilai numerik yang lebih besar yaitu dari range -2^63 sampai +2^63-1 atau 64 bit.</a:t>
            </a:r>
            <a:endParaRPr/>
          </a:p>
          <a:p>
            <a:pPr marL="457200" lvl="0" indent="-311150" algn="l" rtl="0">
              <a:spcBef>
                <a:spcPts val="0"/>
              </a:spcBef>
              <a:spcAft>
                <a:spcPts val="0"/>
              </a:spcAft>
              <a:buSzPts val="1300"/>
              <a:buChar char="●"/>
            </a:pPr>
            <a:r>
              <a:rPr lang="id"/>
              <a:t>Tipe data Float biasanya digunakan untuk mempresentasikan bilangan pecahan presisi tunggal.</a:t>
            </a:r>
            <a:endParaRPr/>
          </a:p>
          <a:p>
            <a:pPr marL="457200" lvl="0" indent="-311150" algn="l" rtl="0">
              <a:spcBef>
                <a:spcPts val="0"/>
              </a:spcBef>
              <a:spcAft>
                <a:spcPts val="0"/>
              </a:spcAft>
              <a:buSzPts val="1300"/>
              <a:buChar char="●"/>
            </a:pPr>
            <a:r>
              <a:rPr lang="id"/>
              <a:t>Double mirip seperti float akan tetapi menggunakan presisi ganda</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972</Words>
  <Application>Microsoft Office PowerPoint</Application>
  <PresentationFormat>On-screen Show (16:9)</PresentationFormat>
  <Paragraphs>111</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Raleway</vt:lpstr>
      <vt:lpstr>Arial</vt:lpstr>
      <vt:lpstr>Lato</vt:lpstr>
      <vt:lpstr>Streamline</vt:lpstr>
      <vt:lpstr>INTRODUCTION MOBILE</vt:lpstr>
      <vt:lpstr>Apa itu Pemrograman Mobile?</vt:lpstr>
      <vt:lpstr>Apa saja yang bisa dibuat dengan Pemrograman Mobile?</vt:lpstr>
      <vt:lpstr>Kotlin Dasar</vt:lpstr>
      <vt:lpstr>Silabus</vt:lpstr>
      <vt:lpstr>Pengenalan Kotlin</vt:lpstr>
      <vt:lpstr>Sejarah Kotlin</vt:lpstr>
      <vt:lpstr>Kotlin Sebagai Bahasa Multiparadigm</vt:lpstr>
      <vt:lpstr>Kotlin Sebagai Bahasa Multiparadigm </vt:lpstr>
      <vt:lpstr>Kotlin Sebagai Bahasa Multiplatform </vt:lpstr>
      <vt:lpstr>Kotlin Sebagai Bahasa Multiplatform </vt:lpstr>
      <vt:lpstr>Kotlin Untuk Server Side</vt:lpstr>
      <vt:lpstr>Kotlin Untuk Android</vt:lpstr>
      <vt:lpstr>Hello World Kotlin</vt:lpstr>
      <vt:lpstr>Hello World!</vt:lpstr>
      <vt:lpstr>Kotlin Fundamental</vt:lpstr>
      <vt:lpstr>Variabel &amp; Tipe Data</vt:lpstr>
      <vt:lpstr>Variable</vt:lpstr>
      <vt:lpstr>Tipe Data</vt:lpstr>
      <vt:lpstr>Char</vt:lpstr>
      <vt:lpstr>Char</vt:lpstr>
      <vt:lpstr>String</vt:lpstr>
      <vt:lpstr>Implementasi String dalam Variabel</vt:lpstr>
      <vt:lpstr>Penggabungan string</vt:lpstr>
      <vt:lpstr>String method</vt:lpstr>
      <vt:lpstr>Boolean</vt:lpstr>
      <vt:lpstr>AND (&amp;&amp;)</vt:lpstr>
      <vt:lpstr>OR ( || )</vt:lpstr>
      <vt:lpstr>NOT (!)</vt:lpstr>
      <vt:lpstr>Boolean</vt:lpstr>
      <vt:lpstr>Boolean (==, &lt;, &gt;, &lt;=, &gt;=)</vt:lpstr>
      <vt:lpstr>Numbers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Alea Casanova</cp:lastModifiedBy>
  <cp:revision>5</cp:revision>
  <dcterms:modified xsi:type="dcterms:W3CDTF">2025-09-11T12:44:48Z</dcterms:modified>
</cp:coreProperties>
</file>